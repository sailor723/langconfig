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2148840"/>
            <a:ext cx="11091672" cy="1463040"/>
          </a:xfrm>
        </p:spPr>
        <p:txBody>
          <a:bodyPr wrap="square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3794760"/>
            <a:ext cx="11091672" cy="822960"/>
          </a:xfrm>
        </p:spPr>
        <p:txBody>
          <a:bodyPr wrap="square"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05" name="deco_5"/>
          <p:cNvSpPr/>
        </p:nvSpPr>
        <p:spPr>
          <a:xfrm>
            <a:off x="5001768" y="3611880"/>
            <a:ext cx="219456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906" name="deco_6"/>
          <p:cNvSpPr/>
        </p:nvSpPr>
        <p:spPr>
          <a:xfrm>
            <a:off x="5001768" y="3611880"/>
            <a:ext cx="219456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411480"/>
            <a:ext cx="10515600" cy="914400"/>
          </a:xfrm>
        </p:spPr>
        <p:txBody>
          <a:bodyPr wrap="square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83080"/>
            <a:ext cx="10515600" cy="4480560"/>
          </a:xfrm>
        </p:spPr>
        <p:txBody>
          <a:bodyPr wrap="square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05" name="deco_5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67E8F9"/>
          </a:solidFill>
          <a:ln>
            <a:noFill/>
          </a:ln>
        </p:spPr>
      </p:sp>
      <p:sp>
        <p:nvSpPr>
          <p:cNvPr id="906" name="deco_6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907" name="deco_7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0891B2"/>
          </a:solidFill>
          <a:ln>
            <a:noFill/>
          </a:ln>
        </p:spPr>
      </p:sp>
      <p:sp>
        <p:nvSpPr>
          <p:cNvPr id="908" name="deco_8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67E8F9"/>
          </a:solidFill>
          <a:ln>
            <a:noFill/>
          </a:ln>
        </p:spPr>
      </p:sp>
      <p:sp>
        <p:nvSpPr>
          <p:cNvPr id="909" name="deco_9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910" name="deco_10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0891B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331720"/>
            <a:ext cx="10515600" cy="1188720"/>
          </a:xfrm>
        </p:spPr>
        <p:txBody>
          <a:bodyPr anchor="t" wrap="square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611880"/>
            <a:ext cx="10515600" cy="731520"/>
          </a:xfrm>
        </p:spPr>
        <p:txBody>
          <a:bodyPr anchor="b" wrap="square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05" name="deco_5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67E8F9"/>
          </a:solidFill>
          <a:ln>
            <a:noFill/>
          </a:ln>
        </p:spPr>
      </p:sp>
      <p:sp>
        <p:nvSpPr>
          <p:cNvPr id="906" name="deco_6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907" name="deco_7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0891B2"/>
          </a:solidFill>
          <a:ln>
            <a:noFill/>
          </a:ln>
        </p:spPr>
      </p:sp>
      <p:sp>
        <p:nvSpPr>
          <p:cNvPr id="908" name="deco_8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67E8F9"/>
          </a:solidFill>
          <a:ln>
            <a:noFill/>
          </a:ln>
        </p:spPr>
      </p:sp>
      <p:sp>
        <p:nvSpPr>
          <p:cNvPr id="909" name="deco_9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910" name="deco_10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0891B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51760"/>
            <a:ext cx="10515600" cy="1645920"/>
          </a:xfrm>
        </p:spPr>
        <p:txBody>
          <a:bodyPr wrap="square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04" name="deco_4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67E8F9"/>
          </a:solidFill>
          <a:ln>
            <a:noFill/>
          </a:ln>
        </p:spPr>
      </p:sp>
      <p:sp>
        <p:nvSpPr>
          <p:cNvPr id="905" name="deco_5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906" name="deco_6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0891B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411480"/>
            <a:ext cx="10515600" cy="914400"/>
          </a:xfrm>
        </p:spPr>
        <p:txBody>
          <a:bodyPr anchor="b" wrap="square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83080"/>
            <a:ext cx="10515600" cy="4480560"/>
          </a:xfrm>
        </p:spPr>
        <p:txBody>
          <a:bodyPr wrap="square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905" name="deco_5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67E8F9"/>
          </a:solidFill>
          <a:ln>
            <a:noFill/>
          </a:ln>
        </p:spPr>
      </p:sp>
      <p:sp>
        <p:nvSpPr>
          <p:cNvPr id="906" name="deco_6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907" name="deco_7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0891B2"/>
          </a:solidFill>
          <a:ln>
            <a:noFill/>
          </a:ln>
        </p:spPr>
      </p:sp>
      <p:sp>
        <p:nvSpPr>
          <p:cNvPr id="908" name="deco_8"/>
          <p:cNvSpPr/>
        </p:nvSpPr>
        <p:spPr>
          <a:xfrm>
            <a:off x="0" y="0"/>
            <a:ext cx="4063898" cy="64008"/>
          </a:xfrm>
          <a:prstGeom prst="rect">
            <a:avLst/>
          </a:prstGeom>
          <a:solidFill>
            <a:srgbClr val="67E8F9"/>
          </a:solidFill>
          <a:ln>
            <a:noFill/>
          </a:ln>
        </p:spPr>
      </p:sp>
      <p:sp>
        <p:nvSpPr>
          <p:cNvPr id="909" name="deco_9"/>
          <p:cNvSpPr/>
        </p:nvSpPr>
        <p:spPr>
          <a:xfrm>
            <a:off x="4063898" y="0"/>
            <a:ext cx="4063898" cy="64008"/>
          </a:xfrm>
          <a:prstGeom prst="rect">
            <a:avLst/>
          </a:prstGeom>
          <a:solidFill>
            <a:srgbClr val="22D3EE"/>
          </a:solidFill>
          <a:ln>
            <a:noFill/>
          </a:ln>
        </p:spPr>
      </p:sp>
      <p:sp>
        <p:nvSpPr>
          <p:cNvPr id="910" name="deco_10"/>
          <p:cNvSpPr/>
        </p:nvSpPr>
        <p:spPr>
          <a:xfrm>
            <a:off x="8127796" y="0"/>
            <a:ext cx="4063898" cy="64008"/>
          </a:xfrm>
          <a:prstGeom prst="rect">
            <a:avLst/>
          </a:prstGeom>
          <a:solidFill>
            <a:srgbClr val="0891B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000" kern="1200" spc="0" b="1">
          <a:solidFill>
            <a:srgbClr val="0F172A"/>
          </a:solidFill>
          <a:latin typeface="Segoe UI"/>
          <a:ea typeface="Microsoft YaHei"/>
          <a:cs typeface="Segoe UI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spc="0" b="0">
          <a:solidFill>
            <a:srgbClr val="334155"/>
          </a:solidFill>
          <a:latin typeface="Segoe UI"/>
          <a:ea typeface="Microsoft YaHei"/>
          <a:cs typeface="Segoe UI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spc="0" b="0">
          <a:solidFill>
            <a:srgbClr val="334155"/>
          </a:solidFill>
          <a:latin typeface="Segoe UI"/>
          <a:ea typeface="Microsoft YaHei"/>
          <a:cs typeface="Segoe UI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spc="0" b="0">
          <a:solidFill>
            <a:srgbClr val="334155"/>
          </a:solidFill>
          <a:latin typeface="Segoe UI"/>
          <a:ea typeface="Microsoft YaHei"/>
          <a:cs typeface="Segoe UI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rPr sz="4000" b="1">
                <a:solidFill>
                  <a:srgbClr val="22D3EE"/>
                </a:solidFill>
                <a:latin typeface="Segoe UI"/>
                <a:ea typeface="Segoe UI"/>
              </a:rPr>
              <a:t>Template Preview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rPr sz="1800" b="0">
                <a:solidFill>
                  <a:srgbClr val="E2E8F0"/>
                </a:solidFill>
                <a:latin typeface="Segoe UI"/>
                <a:ea typeface="Segoe UI"/>
              </a:rPr>
              <a:t>Business deck — 12–15 pages, themed layouts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  <a:ea typeface="Segoe UI"/>
              </a:rPr>
              <a:t>1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  <a:ea typeface="Segoe UI"/>
              </a:rPr>
              <a:t>Template Preview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000" b="1">
                <a:solidFill>
                  <a:srgbClr val="0F172A"/>
                </a:solidFill>
                <a:latin typeface="Segoe UI"/>
                <a:ea typeface="Segoe UI"/>
              </a:rP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  <a:ea typeface="Segoe UI"/>
              </a:rPr>
              <a:t>2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  <a:ea typeface="Segoe UI"/>
              </a:rPr>
              <a:t>Template Preview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000" b="1">
                <a:solidFill>
                  <a:srgbClr val="0F172A"/>
                </a:solidFill>
                <a:latin typeface="Segoe UI"/>
                <a:ea typeface="Segoe UI"/>
              </a:rPr>
              <a:t>Core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0F172A"/>
                </a:solidFill>
                <a:latin typeface="Segoe UI"/>
                <a:ea typeface="Segoe UI"/>
              </a:rPr>
              <a:t>One core idea per slide, 3–5 bullets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22D3EE"/>
                </a:solidFill>
                <a:latin typeface="Segoe UI"/>
                <a:ea typeface="Segoe UI"/>
              </a:rPr>
              <a:t>Revenue grew 42% this quarter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0F172A"/>
                </a:solidFill>
                <a:latin typeface="Segoe UI"/>
                <a:ea typeface="Segoe UI"/>
              </a:rPr>
              <a:t>Every figure comes from the source document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0F172A"/>
                </a:solidFill>
                <a:latin typeface="Segoe UI"/>
                <a:ea typeface="Segoe UI"/>
              </a:rPr>
              <a:t>Bullets are clamped to fit the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  <a:ea typeface="Segoe UI"/>
              </a:rPr>
              <a:t>3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  <a:ea typeface="Segoe UI"/>
              </a:rPr>
              <a:t>Template Preview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000" b="1">
                <a:solidFill>
                  <a:srgbClr val="0F172A"/>
                </a:solidFill>
                <a:latin typeface="Segoe UI"/>
                <a:ea typeface="Segoe UI"/>
              </a:rPr>
              <a:t>Key Numbers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0031" y="1965960"/>
            <a:ext cx="2542032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0071" y="2221991"/>
            <a:ext cx="1901952" cy="16459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Segoe UI"/>
                <a:ea typeface="Segoe UI"/>
              </a:rPr>
              <a:t>42% growth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0071" y="216712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53231" y="1965960"/>
            <a:ext cx="2542032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73271" y="2221991"/>
            <a:ext cx="1901952" cy="16459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Segoe UI"/>
                <a:ea typeface="Segoe UI"/>
              </a:rPr>
              <a:t>€1.2M revenue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73271" y="216712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96431" y="1965960"/>
            <a:ext cx="2542032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6471" y="2221991"/>
            <a:ext cx="1901952" cy="16459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Segoe UI"/>
                <a:ea typeface="Segoe UI"/>
              </a:rPr>
              <a:t>3.4x ROI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16471" y="216712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39631" y="1965960"/>
            <a:ext cx="2542032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59671" y="2221991"/>
            <a:ext cx="1901952" cy="16459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Segoe UI"/>
                <a:ea typeface="Segoe UI"/>
              </a:rPr>
              <a:t>18 new markets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59671" y="2167128"/>
            <a:ext cx="118872" cy="118872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0" y="641908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  <a:ea typeface="Segoe UI"/>
              </a:rPr>
              <a:t>4 /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19088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  <a:ea typeface="Segoe UI"/>
              </a:rPr>
              <a:t>Template Preview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000" b="1">
                <a:solidFill>
                  <a:srgbClr val="0F172A"/>
                </a:solidFill>
                <a:latin typeface="Segoe UI"/>
                <a:ea typeface="Segoe UI"/>
              </a:rP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0F172A"/>
                </a:solidFill>
                <a:latin typeface="Segoe UI"/>
                <a:ea typeface="Segoe UI"/>
              </a:rPr>
              <a:t>Q1 — Research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0F172A"/>
                </a:solidFill>
                <a:latin typeface="Segoe UI"/>
                <a:ea typeface="Segoe UI"/>
              </a:rPr>
              <a:t>Q2 — Pilot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0F172A"/>
                </a:solidFill>
                <a:latin typeface="Segoe UI"/>
                <a:ea typeface="Segoe UI"/>
              </a:rPr>
              <a:t>Q3 — Launch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0F172A"/>
                </a:solidFill>
                <a:latin typeface="Segoe UI"/>
                <a:ea typeface="Segoe UI"/>
              </a:rPr>
              <a:t>Q4 —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  <a:ea typeface="Segoe UI"/>
              </a:rPr>
              <a:t>5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  <a:ea typeface="Segoe UI"/>
              </a:rPr>
              <a:t>Template Preview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000" b="1">
                <a:solidFill>
                  <a:srgbClr val="0F172A"/>
                </a:solidFill>
                <a:latin typeface="Segoe UI"/>
                <a:ea typeface="Segoe UI"/>
              </a:rPr>
              <a:t>“Clarity beats cleverness.”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641908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  <a:ea typeface="Segoe UI"/>
              </a:rPr>
              <a:t>6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  <a:ea typeface="Segoe UI"/>
              </a:rPr>
              <a:t>Template Preview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3000" b="1">
                <a:solidFill>
                  <a:srgbClr val="0F172A"/>
                </a:solidFill>
                <a:latin typeface="Segoe UI"/>
                <a:ea typeface="Segoe UI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0F172A"/>
                </a:solidFill>
                <a:latin typeface="Segoe UI"/>
                <a:ea typeface="Segoe UI"/>
              </a:rPr>
              <a:t>Controlled output, every run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0F172A"/>
                </a:solidFill>
                <a:latin typeface="Segoe UI"/>
                <a:ea typeface="Segoe UI"/>
              </a:rPr>
              <a:t>Same deck in HTML and PPTX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  <a:ea typeface="Segoe UI"/>
              </a:rPr>
              <a:t>7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  <a:ea typeface="Segoe UI"/>
              </a:rPr>
              <a:t>Template Preview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r>
              <a:rPr sz="4000" b="1">
                <a:solidFill>
                  <a:srgbClr val="22D3EE"/>
                </a:solidFill>
                <a:latin typeface="Segoe UI"/>
                <a:ea typeface="Segoe UI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r>
              <a:rPr sz="1800" b="0">
                <a:solidFill>
                  <a:srgbClr val="E2E8F0"/>
                </a:solidFill>
                <a:latin typeface="Segoe UI"/>
                <a:ea typeface="Segoe UI"/>
              </a:rPr>
              <a:t>Generated with LangConfig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24160" y="6419088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Segoe UI"/>
                <a:ea typeface="Segoe UI"/>
              </a:rPr>
              <a:t>8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Segoe UI"/>
                <a:ea typeface="Segoe UI"/>
              </a:rPr>
              <a:t>Template Preview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F172A"/>
      </a:dk1>
      <a:lt1>
        <a:srgbClr val="F1F5F9"/>
      </a:lt1>
      <a:dk2>
        <a:srgbClr val="334155"/>
      </a:dk2>
      <a:lt2>
        <a:srgbClr val="FFFFFF"/>
      </a:lt2>
      <a:accent1>
        <a:srgbClr val="22D3EE"/>
      </a:accent1>
      <a:accent2>
        <a:srgbClr val="67E8F9"/>
      </a:accent2>
      <a:accent3>
        <a:srgbClr val="0891B2"/>
      </a:accent3>
      <a:accent4>
        <a:srgbClr val="64748B"/>
      </a:accent4>
      <a:accent5>
        <a:srgbClr val="64748B"/>
      </a:accent5>
      <a:accent6>
        <a:srgbClr val="E2E8F0"/>
      </a:accent6>
      <a:hlink>
        <a:srgbClr val="22D3EE"/>
      </a:hlink>
      <a:folHlink>
        <a:srgbClr val="0891B2"/>
      </a:folHlink>
    </a:clrScheme>
    <a:fontScheme name="Office">
      <a:majorFont>
        <a:latin typeface="Segoe UI"/>
        <a:ea typeface="Microsoft YaHei"/>
        <a:cs typeface="Segoe UI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